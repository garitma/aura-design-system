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00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3" name="Text 1"/>
          <p:cNvSpPr/>
          <p:nvPr/>
        </p:nvSpPr>
        <p:spPr>
          <a:xfrm>
            <a:off x="742950" y="1737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5CD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AURA DESIGN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42950" y="219456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CFAF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Design tokens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CFAF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you can install.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742950" y="4114800"/>
            <a:ext cx="822960" cy="54864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6" name="Text 4"/>
          <p:cNvSpPr/>
          <p:nvPr/>
        </p:nvSpPr>
        <p:spPr>
          <a:xfrm>
            <a:off x="742950" y="43891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D1F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 12-step accent and gray palette, fluid typography, and a 13px spacing grid — shipped as a shadcn registry.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2950" y="5760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D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pnpm dlx shadcn@latest add @aura/presentation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3" name="Text 1"/>
          <p:cNvSpPr/>
          <p:nvPr/>
        </p:nvSpPr>
        <p:spPr>
          <a:xfrm>
            <a:off x="742950" y="74295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/ COLOR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2950" y="1051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005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Twelve steps, one intent per step.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42950" y="2103120"/>
            <a:ext cx="786384" cy="1371600"/>
          </a:xfrm>
          <a:prstGeom prst="rect">
            <a:avLst/>
          </a:prstGeom>
          <a:solidFill>
            <a:srgbClr val="FDFDFF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950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02486" y="2103120"/>
            <a:ext cx="786384" cy="1371600"/>
          </a:xfrm>
          <a:prstGeom prst="rect">
            <a:avLst/>
          </a:prstGeom>
          <a:solidFill>
            <a:srgbClr val="F7F8FF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2486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2022" y="2103120"/>
            <a:ext cx="786384" cy="1371600"/>
          </a:xfrm>
          <a:prstGeom prst="rect">
            <a:avLst/>
          </a:prstGeom>
          <a:solidFill>
            <a:srgbClr val="EEF1FF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2022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21558" y="2103120"/>
            <a:ext cx="786384" cy="1371600"/>
          </a:xfrm>
          <a:prstGeom prst="rect">
            <a:avLst/>
          </a:prstGeom>
          <a:solidFill>
            <a:srgbClr val="E2E7FF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1558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81094" y="2103120"/>
            <a:ext cx="786384" cy="1371600"/>
          </a:xfrm>
          <a:prstGeom prst="rect">
            <a:avLst/>
          </a:prstGeom>
          <a:solidFill>
            <a:srgbClr val="D5DCFF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81094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40630" y="2103120"/>
            <a:ext cx="786384" cy="1371600"/>
          </a:xfrm>
          <a:prstGeom prst="rect">
            <a:avLst/>
          </a:prstGeom>
          <a:solidFill>
            <a:srgbClr val="C5CDFF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0630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00166" y="2103120"/>
            <a:ext cx="786384" cy="1371600"/>
          </a:xfrm>
          <a:prstGeom prst="rect">
            <a:avLst/>
          </a:prstGeom>
          <a:solidFill>
            <a:srgbClr val="B0B9FF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0166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59702" y="2103120"/>
            <a:ext cx="786384" cy="1371600"/>
          </a:xfrm>
          <a:prstGeom prst="rect">
            <a:avLst/>
          </a:prstGeom>
          <a:solidFill>
            <a:srgbClr val="939BFF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59702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19238" y="2103120"/>
            <a:ext cx="786384" cy="1371600"/>
          </a:xfrm>
          <a:prstGeom prst="rect">
            <a:avLst/>
          </a:prstGeom>
          <a:solidFill>
            <a:srgbClr val="4015CA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19238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478774" y="2103120"/>
            <a:ext cx="786384" cy="1371600"/>
          </a:xfrm>
          <a:prstGeom prst="rect">
            <a:avLst/>
          </a:prstGeom>
          <a:solidFill>
            <a:srgbClr val="3500B6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8774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338310" y="2103120"/>
            <a:ext cx="786384" cy="1371600"/>
          </a:xfrm>
          <a:prstGeom prst="rect">
            <a:avLst/>
          </a:prstGeom>
          <a:solidFill>
            <a:srgbClr val="5446E1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38310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197846" y="2103120"/>
            <a:ext cx="786384" cy="1371600"/>
          </a:xfrm>
          <a:prstGeom prst="rect">
            <a:avLst/>
          </a:prstGeom>
          <a:solidFill>
            <a:srgbClr val="272370"/>
          </a:solidFill>
          <a:ln w="6350">
            <a:solidFill>
              <a:srgbClr val="D9D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97846" y="356616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2950" y="4114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1–2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74879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49B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App and card backgrounds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2950" y="4526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3–5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74879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49B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Component fill: rest, hover, active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2950" y="4937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6–8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748790" y="4937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49B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Borders, then focus rings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42950" y="5349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9–10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748790" y="5349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49B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Solid brand fills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42950" y="5760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11–12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748790" y="5760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949B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Low- and high-contrast text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3" name="Text 1"/>
          <p:cNvSpPr/>
          <p:nvPr/>
        </p:nvSpPr>
        <p:spPr>
          <a:xfrm>
            <a:off x="742950" y="74295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/ TYPOGRAPHY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2950" y="1051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005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Type scales with the viewport.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2950" y="1783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clamp(min, 4.03vw, max) — every heading, every breakpoint.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2950" y="25328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6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0190" y="24231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7005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Aa — 1.98 to 3.05rem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2950" y="340156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6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20190" y="329184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7005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Aa — 1.59 to 2.44rem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42950" y="427024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6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20190" y="416052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7005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Aa — 1.48 to 2.28rem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42950" y="51389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6C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20190" y="50292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949B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Aa — 1rem body copy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3" name="Text 1"/>
          <p:cNvSpPr/>
          <p:nvPr/>
        </p:nvSpPr>
        <p:spPr>
          <a:xfrm>
            <a:off x="742950" y="74295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/ SPACING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2950" y="1051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005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Everything lands on 13px.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2950" y="1783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949B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Tailwind utilities inherit --spacing: 13px, so p-4 is 52px — not 16px.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2950" y="2697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p-1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11630" y="2651760"/>
            <a:ext cx="619125" cy="457200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8" name="Text 6"/>
          <p:cNvSpPr/>
          <p:nvPr/>
        </p:nvSpPr>
        <p:spPr>
          <a:xfrm>
            <a:off x="2322195" y="2697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13px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2950" y="36118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p-2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11630" y="3566160"/>
            <a:ext cx="1238250" cy="457200"/>
          </a:xfrm>
          <a:prstGeom prst="rect">
            <a:avLst/>
          </a:prstGeom>
          <a:solidFill>
            <a:srgbClr val="C5CDFF"/>
          </a:solidFill>
          <a:ln/>
        </p:spPr>
      </p:sp>
      <p:sp>
        <p:nvSpPr>
          <p:cNvPr id="11" name="Text 9"/>
          <p:cNvSpPr/>
          <p:nvPr/>
        </p:nvSpPr>
        <p:spPr>
          <a:xfrm>
            <a:off x="2941320" y="3611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26px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2950" y="45262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p-3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11630" y="4480560"/>
            <a:ext cx="1857375" cy="457200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14" name="Text 12"/>
          <p:cNvSpPr/>
          <p:nvPr/>
        </p:nvSpPr>
        <p:spPr>
          <a:xfrm>
            <a:off x="3560445" y="4526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39px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2950" y="5440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p-4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11630" y="5394960"/>
            <a:ext cx="2476500" cy="457200"/>
          </a:xfrm>
          <a:prstGeom prst="rect">
            <a:avLst/>
          </a:prstGeom>
          <a:solidFill>
            <a:srgbClr val="C5CD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79570" y="5440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949B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52px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3" name="Text 1"/>
          <p:cNvSpPr/>
          <p:nvPr/>
        </p:nvSpPr>
        <p:spPr>
          <a:xfrm>
            <a:off x="742950" y="74295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446E1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 / SURFACES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2950" y="10515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7005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Stack sheets before drawing lines.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42950" y="2194560"/>
            <a:ext cx="2377440" cy="2834640"/>
          </a:xfrm>
          <a:prstGeom prst="roundRect">
            <a:avLst>
              <a:gd name="adj" fmla="val 4615"/>
            </a:avLst>
          </a:prstGeom>
          <a:solidFill>
            <a:srgbClr val="FCFAFF"/>
          </a:solidFill>
          <a:ln w="12700">
            <a:solidFill>
              <a:srgbClr val="D9D1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4118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00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gray-1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4118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005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Canvas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348990" y="2194560"/>
            <a:ext cx="2377440" cy="2834640"/>
          </a:xfrm>
          <a:prstGeom prst="roundRect">
            <a:avLst>
              <a:gd name="adj" fmla="val 4615"/>
            </a:avLst>
          </a:prstGeom>
          <a:solidFill>
            <a:srgbClr val="F9F6FF"/>
          </a:solidFill>
          <a:ln w="12700">
            <a:solidFill>
              <a:srgbClr val="D9D1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0158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00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gray-2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50158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005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Card surface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55030" y="2194560"/>
            <a:ext cx="2377440" cy="2834640"/>
          </a:xfrm>
          <a:prstGeom prst="roundRect">
            <a:avLst>
              <a:gd name="adj" fmla="val 4615"/>
            </a:avLst>
          </a:prstGeom>
          <a:solidFill>
            <a:srgbClr val="F0ECFF"/>
          </a:solidFill>
          <a:ln w="12700">
            <a:solidFill>
              <a:srgbClr val="D9D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56198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005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gray-3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56198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005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Lifted / hover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561070" y="2194560"/>
            <a:ext cx="2377440" cy="2834640"/>
          </a:xfrm>
          <a:prstGeom prst="roundRect">
            <a:avLst>
              <a:gd name="adj" fmla="val 4615"/>
            </a:avLst>
          </a:prstGeom>
          <a:solidFill>
            <a:srgbClr val="4015CA"/>
          </a:solidFill>
          <a:ln w="12700">
            <a:solidFill>
              <a:srgbClr val="D9D1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62238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accent-9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62238" y="4206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Primary action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42950" y="5394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949B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Borders at steps 6–8 only where structure has to read: dialogs, menus, and controls.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7237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7650" cy="6858000"/>
          </a:xfrm>
          <a:prstGeom prst="rect">
            <a:avLst/>
          </a:prstGeom>
          <a:solidFill>
            <a:srgbClr val="4015CA"/>
          </a:solidFill>
          <a:ln/>
        </p:spPr>
      </p:sp>
      <p:sp>
        <p:nvSpPr>
          <p:cNvPr id="3" name="Text 1"/>
          <p:cNvSpPr/>
          <p:nvPr/>
        </p:nvSpPr>
        <p:spPr>
          <a:xfrm>
            <a:off x="742950" y="210312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Install the system,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abarito" pitchFamily="34" charset="0"/>
                <a:ea typeface="Gabarito" pitchFamily="34" charset="-122"/>
                <a:cs typeface="Gabarito" pitchFamily="34" charset="-120"/>
              </a:rPr>
              <a:t>not the screenshots.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295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CD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auradesignsystem.com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Aura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Design System</dc:title>
  <dc:subject>PptxGenJS Presentation</dc:subject>
  <dc:creator>Aura Design System</dc:creator>
  <cp:lastModifiedBy>Aura Design System</cp:lastModifiedBy>
  <cp:revision>1</cp:revision>
  <dcterms:created xsi:type="dcterms:W3CDTF">2026-10-14T00:51:34Z</dcterms:created>
  <dcterms:modified xsi:type="dcterms:W3CDTF">2026-10-14T00:51:34Z</dcterms:modified>
</cp:coreProperties>
</file>